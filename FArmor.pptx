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anrope"/>
      <p:regular r:id="rId11"/>
      <p:bold r:id="rId12"/>
    </p:embeddedFont>
    <p:embeddedFont>
      <p:font typeface="Space Grotesk Medium"/>
      <p:regular r:id="rId13"/>
      <p:bold r:id="rId14"/>
    </p:embeddedFont>
    <p:embeddedFont>
      <p:font typeface="Sora"/>
      <p:regular r:id="rId15"/>
      <p:bold r:id="rId16"/>
    </p:embeddedFont>
    <p:embeddedFont>
      <p:font typeface="DM Sans"/>
      <p:regular r:id="rId17"/>
      <p:bold r:id="rId18"/>
      <p:italic r:id="rId19"/>
      <p:boldItalic r:id="rId20"/>
    </p:embeddedFont>
    <p:embeddedFont>
      <p:font typeface="Space Grotesk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font" Target="fonts/Manrope-regular.fntdata"/><Relationship Id="rId22" Type="http://schemas.openxmlformats.org/officeDocument/2006/relationships/font" Target="fonts/SpaceGrotesk-bold.fntdata"/><Relationship Id="rId10" Type="http://schemas.openxmlformats.org/officeDocument/2006/relationships/slide" Target="slides/slide5.xml"/><Relationship Id="rId21" Type="http://schemas.openxmlformats.org/officeDocument/2006/relationships/font" Target="fonts/SpaceGrotesk-regular.fntdata"/><Relationship Id="rId13" Type="http://schemas.openxmlformats.org/officeDocument/2006/relationships/font" Target="fonts/SpaceGroteskMedium-regular.fntdata"/><Relationship Id="rId12" Type="http://schemas.openxmlformats.org/officeDocument/2006/relationships/font" Target="fonts/Manrop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ra-regular.fntdata"/><Relationship Id="rId14" Type="http://schemas.openxmlformats.org/officeDocument/2006/relationships/font" Target="fonts/SpaceGroteskMedium-bold.fntdata"/><Relationship Id="rId17" Type="http://schemas.openxmlformats.org/officeDocument/2006/relationships/font" Target="fonts/DMSans-regular.fntdata"/><Relationship Id="rId16" Type="http://schemas.openxmlformats.org/officeDocument/2006/relationships/font" Target="fonts/Sor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88c1a559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88c1a559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0f41e1924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0f41e1924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d1bf8d60a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d1bf8d60a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5ca5f6ca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5ca5f6c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1bf8d60a4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1bf8d60a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219551" y="-266499"/>
            <a:ext cx="9621373" cy="5649549"/>
            <a:chOff x="-219551" y="-266499"/>
            <a:chExt cx="9621373" cy="5649549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189550" y="-266499"/>
              <a:ext cx="3212273" cy="136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219551" y="4014624"/>
              <a:ext cx="3221350" cy="1368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25" y="860580"/>
            <a:ext cx="3888600" cy="233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713225" y="3220630"/>
            <a:ext cx="2359800" cy="6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 flipH="1">
            <a:off x="3355583" y="21508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 flipH="1">
            <a:off x="6720683" y="867500"/>
            <a:ext cx="1702500" cy="10467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 flipH="1">
            <a:off x="5862375" y="3082900"/>
            <a:ext cx="25608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" name="Google Shape;20;p3"/>
          <p:cNvGrpSpPr/>
          <p:nvPr/>
        </p:nvGrpSpPr>
        <p:grpSpPr>
          <a:xfrm>
            <a:off x="-258640" y="-266499"/>
            <a:ext cx="9621373" cy="5649549"/>
            <a:chOff x="-258640" y="-266499"/>
            <a:chExt cx="9621373" cy="5649549"/>
          </a:xfrm>
        </p:grpSpPr>
        <p:pic>
          <p:nvPicPr>
            <p:cNvPr id="21" name="Google Shape;21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258640" y="-266499"/>
              <a:ext cx="3212273" cy="136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41383" y="4014624"/>
              <a:ext cx="3221350" cy="136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4"/>
          <p:cNvGrpSpPr/>
          <p:nvPr/>
        </p:nvGrpSpPr>
        <p:grpSpPr>
          <a:xfrm>
            <a:off x="-199351" y="-141900"/>
            <a:ext cx="9599526" cy="5534175"/>
            <a:chOff x="-199351" y="-141900"/>
            <a:chExt cx="9599526" cy="5534175"/>
          </a:xfrm>
        </p:grpSpPr>
        <p:pic>
          <p:nvPicPr>
            <p:cNvPr id="26" name="Google Shape;2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915884" y="-141900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199351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0000" y="1215750"/>
            <a:ext cx="7704000" cy="12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Char char="●"/>
              <a:defRPr>
                <a:latin typeface="Manrope"/>
                <a:ea typeface="Manrope"/>
                <a:cs typeface="Manrope"/>
                <a:sym typeface="Manrope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5"/>
          <p:cNvGrpSpPr/>
          <p:nvPr/>
        </p:nvGrpSpPr>
        <p:grpSpPr>
          <a:xfrm flipH="1">
            <a:off x="-199351" y="-426425"/>
            <a:ext cx="9599526" cy="5818700"/>
            <a:chOff x="-199351" y="-426425"/>
            <a:chExt cx="9599526" cy="5818700"/>
          </a:xfrm>
        </p:grpSpPr>
        <p:pic>
          <p:nvPicPr>
            <p:cNvPr id="33" name="Google Shape;33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915884" y="-426425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199351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" name="Google Shape;3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5040048" y="2447425"/>
            <a:ext cx="2850900" cy="11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1253050" y="2447425"/>
            <a:ext cx="2850900" cy="11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5040051" y="2052625"/>
            <a:ext cx="28509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1253050" y="2052625"/>
            <a:ext cx="28509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6"/>
          <p:cNvGrpSpPr/>
          <p:nvPr/>
        </p:nvGrpSpPr>
        <p:grpSpPr>
          <a:xfrm>
            <a:off x="-199351" y="-426425"/>
            <a:ext cx="9599526" cy="5818700"/>
            <a:chOff x="-199351" y="-426425"/>
            <a:chExt cx="9599526" cy="5818700"/>
          </a:xfrm>
        </p:grpSpPr>
        <p:pic>
          <p:nvPicPr>
            <p:cNvPr id="43" name="Google Shape;43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99351" y="-426425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44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864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oogle Shape;48;p7"/>
          <p:cNvGrpSpPr/>
          <p:nvPr/>
        </p:nvGrpSpPr>
        <p:grpSpPr>
          <a:xfrm>
            <a:off x="-199351" y="-141900"/>
            <a:ext cx="9599526" cy="5534175"/>
            <a:chOff x="-199351" y="-141900"/>
            <a:chExt cx="9599526" cy="5534175"/>
          </a:xfrm>
        </p:grpSpPr>
        <p:pic>
          <p:nvPicPr>
            <p:cNvPr id="49" name="Google Shape;49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915884" y="-141900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199351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2300350" y="1598225"/>
            <a:ext cx="45432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8"/>
          <p:cNvGrpSpPr/>
          <p:nvPr/>
        </p:nvGrpSpPr>
        <p:grpSpPr>
          <a:xfrm>
            <a:off x="-219551" y="-266499"/>
            <a:ext cx="9621373" cy="5649549"/>
            <a:chOff x="-219551" y="-266499"/>
            <a:chExt cx="9621373" cy="5649549"/>
          </a:xfrm>
        </p:grpSpPr>
        <p:pic>
          <p:nvPicPr>
            <p:cNvPr id="56" name="Google Shape;56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189550" y="-266499"/>
              <a:ext cx="3212273" cy="136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219551" y="4014624"/>
              <a:ext cx="3221350" cy="1368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8"/>
          <p:cNvSpPr txBox="1"/>
          <p:nvPr>
            <p:ph type="title"/>
          </p:nvPr>
        </p:nvSpPr>
        <p:spPr>
          <a:xfrm>
            <a:off x="713225" y="1406400"/>
            <a:ext cx="4459500" cy="20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 txBox="1"/>
          <p:nvPr>
            <p:ph type="title"/>
          </p:nvPr>
        </p:nvSpPr>
        <p:spPr>
          <a:xfrm>
            <a:off x="884125" y="946863"/>
            <a:ext cx="3407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884125" y="2614438"/>
            <a:ext cx="3407100" cy="15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63" name="Google Shape;63;p9"/>
          <p:cNvSpPr/>
          <p:nvPr>
            <p:ph idx="2" type="pic"/>
          </p:nvPr>
        </p:nvSpPr>
        <p:spPr>
          <a:xfrm>
            <a:off x="5346675" y="0"/>
            <a:ext cx="3797400" cy="5143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type="title"/>
          </p:nvPr>
        </p:nvSpPr>
        <p:spPr>
          <a:xfrm>
            <a:off x="1390200" y="3955825"/>
            <a:ext cx="6363600" cy="572700"/>
          </a:xfrm>
          <a:prstGeom prst="rect">
            <a:avLst/>
          </a:prstGeom>
          <a:solidFill>
            <a:srgbClr val="023F7B">
              <a:alpha val="800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1"/>
          <p:cNvGrpSpPr/>
          <p:nvPr/>
        </p:nvGrpSpPr>
        <p:grpSpPr>
          <a:xfrm>
            <a:off x="-199351" y="-141900"/>
            <a:ext cx="9599526" cy="5534175"/>
            <a:chOff x="-199351" y="-141900"/>
            <a:chExt cx="9599526" cy="5534175"/>
          </a:xfrm>
        </p:grpSpPr>
        <p:pic>
          <p:nvPicPr>
            <p:cNvPr id="70" name="Google Shape;70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915884" y="-141900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199351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1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1284000" y="309078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1882350" y="1569375"/>
            <a:ext cx="43326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2" type="subTitle"/>
          </p:nvPr>
        </p:nvSpPr>
        <p:spPr>
          <a:xfrm>
            <a:off x="1882405" y="2441175"/>
            <a:ext cx="43326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3" type="subTitle"/>
          </p:nvPr>
        </p:nvSpPr>
        <p:spPr>
          <a:xfrm>
            <a:off x="1882350" y="3312975"/>
            <a:ext cx="43326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4" type="subTitle"/>
          </p:nvPr>
        </p:nvSpPr>
        <p:spPr>
          <a:xfrm>
            <a:off x="1882405" y="4184775"/>
            <a:ext cx="43326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hasCustomPrompt="1" idx="5" type="title"/>
          </p:nvPr>
        </p:nvSpPr>
        <p:spPr>
          <a:xfrm>
            <a:off x="872388" y="1344775"/>
            <a:ext cx="954600" cy="5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hasCustomPrompt="1" idx="6" type="title"/>
          </p:nvPr>
        </p:nvSpPr>
        <p:spPr>
          <a:xfrm>
            <a:off x="872388" y="3088391"/>
            <a:ext cx="954600" cy="5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7" type="title"/>
          </p:nvPr>
        </p:nvSpPr>
        <p:spPr>
          <a:xfrm>
            <a:off x="872412" y="2216583"/>
            <a:ext cx="954600" cy="5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8" type="title"/>
          </p:nvPr>
        </p:nvSpPr>
        <p:spPr>
          <a:xfrm>
            <a:off x="872412" y="3960199"/>
            <a:ext cx="954600" cy="5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idx="9" type="subTitle"/>
          </p:nvPr>
        </p:nvSpPr>
        <p:spPr>
          <a:xfrm>
            <a:off x="1882350" y="1340350"/>
            <a:ext cx="43326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solidFill>
                  <a:schemeClr val="accent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3" type="subTitle"/>
          </p:nvPr>
        </p:nvSpPr>
        <p:spPr>
          <a:xfrm>
            <a:off x="1882384" y="2212134"/>
            <a:ext cx="43326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solidFill>
                  <a:schemeClr val="accent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4" type="subTitle"/>
          </p:nvPr>
        </p:nvSpPr>
        <p:spPr>
          <a:xfrm>
            <a:off x="1882350" y="3083917"/>
            <a:ext cx="43326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solidFill>
                  <a:schemeClr val="accent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5" type="subTitle"/>
          </p:nvPr>
        </p:nvSpPr>
        <p:spPr>
          <a:xfrm>
            <a:off x="1882384" y="3955701"/>
            <a:ext cx="43326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solidFill>
                  <a:schemeClr val="accent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90" name="Google Shape;90;p13"/>
          <p:cNvGrpSpPr/>
          <p:nvPr/>
        </p:nvGrpSpPr>
        <p:grpSpPr>
          <a:xfrm>
            <a:off x="-199351" y="-141900"/>
            <a:ext cx="9599526" cy="5534175"/>
            <a:chOff x="-199351" y="-141900"/>
            <a:chExt cx="9599526" cy="5534175"/>
          </a:xfrm>
        </p:grpSpPr>
        <p:pic>
          <p:nvPicPr>
            <p:cNvPr id="91" name="Google Shape;91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915884" y="-141900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199351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6" name="Google Shape;96;p14"/>
          <p:cNvGrpSpPr/>
          <p:nvPr/>
        </p:nvGrpSpPr>
        <p:grpSpPr>
          <a:xfrm flipH="1">
            <a:off x="-199351" y="-426425"/>
            <a:ext cx="9599526" cy="5818700"/>
            <a:chOff x="-199351" y="-426425"/>
            <a:chExt cx="9599526" cy="5818700"/>
          </a:xfrm>
        </p:grpSpPr>
        <p:pic>
          <p:nvPicPr>
            <p:cNvPr id="97" name="Google Shape;9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99351" y="-426425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864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-199351" y="-426425"/>
            <a:ext cx="9599526" cy="5818700"/>
            <a:chOff x="-199351" y="-426425"/>
            <a:chExt cx="9599526" cy="5818700"/>
          </a:xfrm>
        </p:grpSpPr>
        <p:pic>
          <p:nvPicPr>
            <p:cNvPr id="102" name="Google Shape;102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99351" y="-426425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864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720000" y="1215750"/>
            <a:ext cx="7704000" cy="29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ONE_COLUMN_TEXT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6"/>
          <p:cNvGrpSpPr/>
          <p:nvPr/>
        </p:nvGrpSpPr>
        <p:grpSpPr>
          <a:xfrm flipH="1">
            <a:off x="-199351" y="-426425"/>
            <a:ext cx="9599526" cy="5818700"/>
            <a:chOff x="-199351" y="-426425"/>
            <a:chExt cx="9599526" cy="5818700"/>
          </a:xfrm>
        </p:grpSpPr>
        <p:pic>
          <p:nvPicPr>
            <p:cNvPr id="109" name="Google Shape;109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99351" y="-426425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864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4827970" y="1724000"/>
            <a:ext cx="3318600" cy="23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2" type="subTitle"/>
          </p:nvPr>
        </p:nvSpPr>
        <p:spPr>
          <a:xfrm>
            <a:off x="720000" y="1724000"/>
            <a:ext cx="3318600" cy="23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7"/>
          <p:cNvGrpSpPr/>
          <p:nvPr/>
        </p:nvGrpSpPr>
        <p:grpSpPr>
          <a:xfrm>
            <a:off x="-199351" y="-141900"/>
            <a:ext cx="9599526" cy="5534175"/>
            <a:chOff x="-199351" y="-141900"/>
            <a:chExt cx="9599526" cy="5534175"/>
          </a:xfrm>
        </p:grpSpPr>
        <p:pic>
          <p:nvPicPr>
            <p:cNvPr id="117" name="Google Shape;11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915884" y="-141900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199351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720000" y="1777875"/>
            <a:ext cx="4348500" cy="8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1" name="Google Shape;121;p17"/>
          <p:cNvSpPr txBox="1"/>
          <p:nvPr>
            <p:ph idx="2" type="subTitle"/>
          </p:nvPr>
        </p:nvSpPr>
        <p:spPr>
          <a:xfrm>
            <a:off x="720000" y="3450675"/>
            <a:ext cx="4348500" cy="8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2" name="Google Shape;122;p17"/>
          <p:cNvSpPr txBox="1"/>
          <p:nvPr>
            <p:ph idx="3" type="subTitle"/>
          </p:nvPr>
        </p:nvSpPr>
        <p:spPr>
          <a:xfrm>
            <a:off x="720000" y="1404975"/>
            <a:ext cx="43485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4" type="subTitle"/>
          </p:nvPr>
        </p:nvSpPr>
        <p:spPr>
          <a:xfrm>
            <a:off x="720000" y="3080775"/>
            <a:ext cx="43485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18"/>
          <p:cNvGrpSpPr/>
          <p:nvPr/>
        </p:nvGrpSpPr>
        <p:grpSpPr>
          <a:xfrm flipH="1">
            <a:off x="-199351" y="-426425"/>
            <a:ext cx="9599526" cy="5818700"/>
            <a:chOff x="-199351" y="-426425"/>
            <a:chExt cx="9599526" cy="5818700"/>
          </a:xfrm>
        </p:grpSpPr>
        <p:pic>
          <p:nvPicPr>
            <p:cNvPr id="127" name="Google Shape;127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99351" y="-426425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864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18"/>
          <p:cNvSpPr txBox="1"/>
          <p:nvPr>
            <p:ph idx="1" type="subTitle"/>
          </p:nvPr>
        </p:nvSpPr>
        <p:spPr>
          <a:xfrm>
            <a:off x="937700" y="3244150"/>
            <a:ext cx="2175300" cy="10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idx="2" type="subTitle"/>
          </p:nvPr>
        </p:nvSpPr>
        <p:spPr>
          <a:xfrm>
            <a:off x="3484422" y="3244150"/>
            <a:ext cx="2175300" cy="10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3" type="subTitle"/>
          </p:nvPr>
        </p:nvSpPr>
        <p:spPr>
          <a:xfrm>
            <a:off x="6031150" y="3244150"/>
            <a:ext cx="2175300" cy="10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4" type="subTitle"/>
          </p:nvPr>
        </p:nvSpPr>
        <p:spPr>
          <a:xfrm>
            <a:off x="937700" y="29336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4" name="Google Shape;134;p18"/>
          <p:cNvSpPr txBox="1"/>
          <p:nvPr>
            <p:ph idx="5" type="subTitle"/>
          </p:nvPr>
        </p:nvSpPr>
        <p:spPr>
          <a:xfrm>
            <a:off x="3484422" y="29336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5" name="Google Shape;135;p18"/>
          <p:cNvSpPr txBox="1"/>
          <p:nvPr>
            <p:ph idx="6" type="subTitle"/>
          </p:nvPr>
        </p:nvSpPr>
        <p:spPr>
          <a:xfrm>
            <a:off x="6031150" y="29336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19"/>
          <p:cNvGrpSpPr/>
          <p:nvPr/>
        </p:nvGrpSpPr>
        <p:grpSpPr>
          <a:xfrm flipH="1">
            <a:off x="-199351" y="-426425"/>
            <a:ext cx="9599526" cy="5818700"/>
            <a:chOff x="-199351" y="-426425"/>
            <a:chExt cx="9599526" cy="5818700"/>
          </a:xfrm>
        </p:grpSpPr>
        <p:pic>
          <p:nvPicPr>
            <p:cNvPr id="139" name="Google Shape;13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915884" y="-426425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199351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3" type="subTitle"/>
          </p:nvPr>
        </p:nvSpPr>
        <p:spPr>
          <a:xfrm>
            <a:off x="974900" y="3959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4" type="subTitle"/>
          </p:nvPr>
        </p:nvSpPr>
        <p:spPr>
          <a:xfrm>
            <a:off x="3578947" y="3959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6" type="subTitle"/>
          </p:nvPr>
        </p:nvSpPr>
        <p:spPr>
          <a:xfrm>
            <a:off x="6183000" y="3959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0" name="Google Shape;150;p19"/>
          <p:cNvSpPr txBox="1"/>
          <p:nvPr>
            <p:ph idx="9" type="subTitle"/>
          </p:nvPr>
        </p:nvSpPr>
        <p:spPr>
          <a:xfrm>
            <a:off x="974900" y="3750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13" type="subTitle"/>
          </p:nvPr>
        </p:nvSpPr>
        <p:spPr>
          <a:xfrm>
            <a:off x="3578947" y="3750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15" type="subTitle"/>
          </p:nvPr>
        </p:nvSpPr>
        <p:spPr>
          <a:xfrm>
            <a:off x="6183000" y="3750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20"/>
          <p:cNvGrpSpPr/>
          <p:nvPr/>
        </p:nvGrpSpPr>
        <p:grpSpPr>
          <a:xfrm>
            <a:off x="-258640" y="-266499"/>
            <a:ext cx="9621373" cy="5649549"/>
            <a:chOff x="-258640" y="-266499"/>
            <a:chExt cx="9621373" cy="5649549"/>
          </a:xfrm>
        </p:grpSpPr>
        <p:pic>
          <p:nvPicPr>
            <p:cNvPr id="157" name="Google Shape;15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258640" y="-266499"/>
              <a:ext cx="3212273" cy="136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41383" y="4014624"/>
              <a:ext cx="3221350" cy="1368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20"/>
          <p:cNvSpPr txBox="1"/>
          <p:nvPr>
            <p:ph type="title"/>
          </p:nvPr>
        </p:nvSpPr>
        <p:spPr>
          <a:xfrm>
            <a:off x="4784575" y="630488"/>
            <a:ext cx="3646200" cy="8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1" type="subTitle"/>
          </p:nvPr>
        </p:nvSpPr>
        <p:spPr>
          <a:xfrm>
            <a:off x="4784575" y="1426819"/>
            <a:ext cx="36462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/>
        </p:nvSpPr>
        <p:spPr>
          <a:xfrm>
            <a:off x="4784575" y="3479681"/>
            <a:ext cx="3646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,</a:t>
            </a: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and includes icons by </a:t>
            </a:r>
            <a:r>
              <a:rPr b="1" lang="en" sz="1000" u="sng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b="1"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21"/>
          <p:cNvGrpSpPr/>
          <p:nvPr/>
        </p:nvGrpSpPr>
        <p:grpSpPr>
          <a:xfrm>
            <a:off x="-199351" y="-426425"/>
            <a:ext cx="9599526" cy="5818700"/>
            <a:chOff x="-199351" y="-426425"/>
            <a:chExt cx="9599526" cy="5818700"/>
          </a:xfrm>
        </p:grpSpPr>
        <p:pic>
          <p:nvPicPr>
            <p:cNvPr id="165" name="Google Shape;16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99351" y="-426425"/>
              <a:ext cx="2484291" cy="105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864" y="4333974"/>
              <a:ext cx="2491310" cy="10583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" y="5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22"/>
          <p:cNvGrpSpPr/>
          <p:nvPr/>
        </p:nvGrpSpPr>
        <p:grpSpPr>
          <a:xfrm>
            <a:off x="-219551" y="-266499"/>
            <a:ext cx="9621373" cy="5649549"/>
            <a:chOff x="-219551" y="-266499"/>
            <a:chExt cx="9621373" cy="5649549"/>
          </a:xfrm>
        </p:grpSpPr>
        <p:pic>
          <p:nvPicPr>
            <p:cNvPr id="170" name="Google Shape;170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189550" y="-266499"/>
              <a:ext cx="3212273" cy="136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219551" y="4014624"/>
              <a:ext cx="3221350" cy="136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 Medium"/>
              <a:buNone/>
              <a:defRPr sz="3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 Medium"/>
              <a:buNone/>
              <a:defRPr sz="3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 Medium"/>
              <a:buNone/>
              <a:defRPr sz="3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 Medium"/>
              <a:buNone/>
              <a:defRPr sz="3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 Medium"/>
              <a:buNone/>
              <a:defRPr sz="3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 Medium"/>
              <a:buNone/>
              <a:defRPr sz="3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 Medium"/>
              <a:buNone/>
              <a:defRPr sz="3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 Medium"/>
              <a:buNone/>
              <a:defRPr sz="3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 Medium"/>
              <a:buNone/>
              <a:defRPr sz="3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ctrTitle"/>
          </p:nvPr>
        </p:nvSpPr>
        <p:spPr>
          <a:xfrm>
            <a:off x="713225" y="403380"/>
            <a:ext cx="3888600" cy="233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FArmor</a:t>
            </a:r>
            <a:endParaRPr sz="5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7" name="Google Shape;177;p23"/>
          <p:cNvSpPr txBox="1"/>
          <p:nvPr>
            <p:ph idx="1" type="subTitle"/>
          </p:nvPr>
        </p:nvSpPr>
        <p:spPr>
          <a:xfrm>
            <a:off x="713225" y="2763425"/>
            <a:ext cx="3858900" cy="6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ARMORIQ x OPENCLAW HACKATHON</a:t>
            </a:r>
            <a:endParaRPr/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7454" y="811650"/>
            <a:ext cx="3888543" cy="352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720000" y="445025"/>
            <a:ext cx="80076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Space Grotesk"/>
                <a:ea typeface="Space Grotesk"/>
                <a:cs typeface="Space Grotesk"/>
                <a:sym typeface="Space Grotesk"/>
              </a:rPr>
              <a:t>Mistakes Are No Longer Hypothetical</a:t>
            </a:r>
            <a:endParaRPr b="1" sz="32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24"/>
          <p:cNvSpPr txBox="1"/>
          <p:nvPr>
            <p:ph idx="2" type="subTitle"/>
          </p:nvPr>
        </p:nvSpPr>
        <p:spPr>
          <a:xfrm>
            <a:off x="720000" y="1240350"/>
            <a:ext cx="7833300" cy="36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The $440,000 OpenClaw Crypto Blunder (March 2026)</a:t>
            </a:r>
            <a:endParaRPr b="1"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What Happened: </a:t>
            </a:r>
            <a:r>
              <a:rPr lang="en"/>
              <a:t>An automated AI cryptocurrency trading bot built on OpenClaw (named 'Lobstar Wilde') was managing a $50,000 wallet that appreciated to over $440,000.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The Failure: </a:t>
            </a:r>
            <a:r>
              <a:rPr lang="en"/>
              <a:t>A user on social media asked the bot for $320 worth of crypto to help with medical bills. Instead of sending the requested amount, the AI agent mistakenly transferred its entire $440,000 balance to the user.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The Armoriq Connection: </a:t>
            </a:r>
            <a:r>
              <a:rPr lang="en"/>
              <a:t>The challenge is how to make agents trustworthy. This is a catastrophic failure of intent scoping. A proper intent model would have enforced strict spend or usage limits and blocked the transaction before it hit the blockchain.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The Solution - Enter FArmor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25"/>
          <p:cNvSpPr txBox="1"/>
          <p:nvPr>
            <p:ph idx="2" type="subTitle"/>
          </p:nvPr>
        </p:nvSpPr>
        <p:spPr>
          <a:xfrm>
            <a:off x="720000" y="1240350"/>
            <a:ext cx="7608300" cy="36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Intent-Aware Financial Execution </a:t>
            </a:r>
            <a:endParaRPr b="1"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What is FArmor? </a:t>
            </a:r>
            <a:r>
              <a:rPr lang="en"/>
              <a:t>An OpenClaw based autonomous system  designed to secure financial workflows.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The Core Innovation: </a:t>
            </a:r>
            <a:r>
              <a:rPr lang="en"/>
              <a:t>We enforce clear intent boundaries at runtime through explicit validation of intent before action.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How it Works: </a:t>
            </a:r>
            <a:r>
              <a:rPr lang="en"/>
              <a:t>FArmor intercepts AI-initiated payment requests and applies deterministic enforcement of constraints.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The Goal: </a:t>
            </a:r>
            <a:r>
              <a:rPr lang="en"/>
              <a:t>Prove that agents can perform meaningful multi step reasoning and execute real actions safely.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720000" y="445025"/>
            <a:ext cx="80076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Space Grotesk"/>
                <a:ea typeface="Space Grotesk"/>
                <a:cs typeface="Space Grotesk"/>
                <a:sym typeface="Space Grotesk"/>
              </a:rPr>
              <a:t>Architecture &amp; Live Enforcement</a:t>
            </a:r>
            <a:endParaRPr b="1" sz="32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6" name="Google Shape;196;p26"/>
          <p:cNvSpPr txBox="1"/>
          <p:nvPr>
            <p:ph idx="2" type="subTitle"/>
          </p:nvPr>
        </p:nvSpPr>
        <p:spPr>
          <a:xfrm>
            <a:off x="720000" y="1240350"/>
            <a:ext cx="7833300" cy="36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The FArmor Enforcement Pipeline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Strict Architecture: Clear separation between reasoning and execution.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The Engine: Relies on a structured intent model checked against a policy model with enforceable constraints (e.g., spend or usage limits ).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The Demo: Shows explicit validation of intent before action  via: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b="1" lang="en"/>
              <a:t>        An allowed action  (authorized payment).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b="1" lang="en"/>
              <a:t>        A blocked action (observable blocking when rules are violated ).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Bonus: Features bounded delegation enforcing limited scope authority  across multiple agents.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4770025" y="2129538"/>
            <a:ext cx="3646200" cy="8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100" y="1004777"/>
            <a:ext cx="3913651" cy="3133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tificial Intelligence in Finance Workshop by Slidesgo">
  <a:themeElements>
    <a:clrScheme name="Simple Light">
      <a:dk1>
        <a:srgbClr val="FFFFFF"/>
      </a:dk1>
      <a:lt1>
        <a:srgbClr val="023F7B"/>
      </a:lt1>
      <a:dk2>
        <a:srgbClr val="CEECFC"/>
      </a:dk2>
      <a:lt2>
        <a:srgbClr val="5EA2E5"/>
      </a:lt2>
      <a:accent1>
        <a:srgbClr val="75E3F7"/>
      </a:accent1>
      <a:accent2>
        <a:srgbClr val="D9E7FD"/>
      </a:accent2>
      <a:accent3>
        <a:srgbClr val="456CE2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